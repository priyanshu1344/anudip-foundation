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harpenSoften amount="1000"/>
                    </a14:imgEffect>
                    <a14:imgEffect>
                      <a14:colorTemperature colorTemp="6200"/>
                    </a14:imgEffect>
                    <a14:imgEffect>
                      <a14:saturation sat="187000"/>
                    </a14:imgEffect>
                    <a14:imgEffect>
                      <a14:brightnessContrast bright="-65000" contrast="-300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36EA-ECC5-B9FB-CD32-EC16DDDB3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2"/>
            <a:ext cx="9001462" cy="441117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Global University Success Analysis</a:t>
            </a:r>
            <a:br>
              <a:rPr lang="en-IN" dirty="0">
                <a:solidFill>
                  <a:srgbClr val="FF0000"/>
                </a:solidFill>
              </a:rPr>
            </a:br>
            <a:br>
              <a:rPr lang="en-IN" dirty="0">
                <a:solidFill>
                  <a:srgbClr val="FF0000"/>
                </a:solidFill>
              </a:rPr>
            </a:br>
            <a:r>
              <a:rPr lang="en-IN" sz="2200" dirty="0">
                <a:solidFill>
                  <a:srgbClr val="FF0000"/>
                </a:solidFill>
              </a:rPr>
              <a:t>Insights from Data (2006–2016)</a:t>
            </a:r>
            <a:br>
              <a:rPr lang="en-IN" dirty="0">
                <a:solidFill>
                  <a:srgbClr val="FF0000"/>
                </a:solidFill>
              </a:rPr>
            </a:b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7394-D893-F959-406F-FD30FC6BF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198" y="5735638"/>
            <a:ext cx="5531395" cy="555183"/>
          </a:xfrm>
        </p:spPr>
        <p:txBody>
          <a:bodyPr>
            <a:normAutofit fontScale="92500"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Presented by:</a:t>
            </a:r>
            <a:r>
              <a:rPr lang="en-IN" dirty="0">
                <a:solidFill>
                  <a:srgbClr val="00B0F0"/>
                </a:solidFill>
              </a:rPr>
              <a:t> Priyanshu </a:t>
            </a:r>
            <a:r>
              <a:rPr lang="en-IN" dirty="0" err="1">
                <a:solidFill>
                  <a:srgbClr val="00B0F0"/>
                </a:solidFill>
              </a:rPr>
              <a:t>Suryawanshi</a:t>
            </a:r>
            <a:endParaRPr lang="en-IN" dirty="0">
              <a:solidFill>
                <a:srgbClr val="00B0F0"/>
              </a:solidFill>
            </a:endParaRPr>
          </a:p>
          <a:p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32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A713-D7E8-E63E-E099-63FED3B1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/>
              </a:rPr>
              <a:t>Key Findings</a:t>
            </a:r>
            <a:br>
              <a:rPr lang="en-US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C77BE-B25D-D8E5-08E5-4A19520BE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  <a:effectLst/>
              </a:rPr>
              <a:t>US dominates</a:t>
            </a:r>
            <a:r>
              <a:rPr lang="en-IN" dirty="0">
                <a:solidFill>
                  <a:srgbClr val="00B0F0"/>
                </a:solidFill>
                <a:effectLst/>
              </a:rPr>
              <a:t> in universities (273), international students (1.48M), and female </a:t>
            </a:r>
            <a:r>
              <a:rPr lang="en-IN" dirty="0" err="1">
                <a:solidFill>
                  <a:srgbClr val="00B0F0"/>
                </a:solidFill>
                <a:effectLst/>
              </a:rPr>
              <a:t>enrollment</a:t>
            </a:r>
            <a:r>
              <a:rPr lang="en-IN" dirty="0">
                <a:solidFill>
                  <a:srgbClr val="00B0F0"/>
                </a:solidFill>
                <a:effectLst/>
              </a:rPr>
              <a:t> (4.93M).</a:t>
            </a:r>
          </a:p>
          <a:p>
            <a:r>
              <a:rPr lang="en-IN" b="1" dirty="0">
                <a:solidFill>
                  <a:srgbClr val="00B0F0"/>
                </a:solidFill>
                <a:effectLst/>
              </a:rPr>
              <a:t>📊 Top universities</a:t>
            </a:r>
            <a:r>
              <a:rPr lang="en-IN" dirty="0">
                <a:solidFill>
                  <a:srgbClr val="00B0F0"/>
                </a:solidFill>
                <a:effectLst/>
              </a:rPr>
              <a:t>: Arizona State (largest), Polytechnique Lausanne (most international).</a:t>
            </a:r>
          </a:p>
          <a:p>
            <a:r>
              <a:rPr lang="en-IN" b="1" dirty="0">
                <a:solidFill>
                  <a:srgbClr val="00B0F0"/>
                </a:solidFill>
                <a:effectLst/>
              </a:rPr>
              <a:t>📈 Trends</a:t>
            </a:r>
            <a:r>
              <a:rPr lang="en-IN" dirty="0">
                <a:solidFill>
                  <a:srgbClr val="00B0F0"/>
                </a:solidFill>
                <a:effectLst/>
              </a:rPr>
              <a:t>: International students grew from 1.58M (2006) to 4.76M (2016).</a:t>
            </a:r>
          </a:p>
          <a:p>
            <a:r>
              <a:rPr lang="en-IN" b="1" dirty="0">
                <a:solidFill>
                  <a:srgbClr val="00B0F0"/>
                </a:solidFill>
                <a:effectLst/>
              </a:rPr>
              <a:t>♀️ Gender gap</a:t>
            </a:r>
            <a:r>
              <a:rPr lang="en-IN" dirty="0">
                <a:solidFill>
                  <a:srgbClr val="00B0F0"/>
                </a:solidFill>
                <a:effectLst/>
              </a:rPr>
              <a:t>: Avg. female </a:t>
            </a:r>
            <a:r>
              <a:rPr lang="en-IN" dirty="0" err="1">
                <a:solidFill>
                  <a:srgbClr val="00B0F0"/>
                </a:solidFill>
                <a:effectLst/>
              </a:rPr>
              <a:t>enrollment</a:t>
            </a:r>
            <a:r>
              <a:rPr lang="en-IN" dirty="0">
                <a:solidFill>
                  <a:srgbClr val="00B0F0"/>
                </a:solidFill>
                <a:effectLst/>
              </a:rPr>
              <a:t> rose to </a:t>
            </a:r>
            <a:r>
              <a:rPr lang="en-IN" b="1" dirty="0">
                <a:solidFill>
                  <a:srgbClr val="00B0F0"/>
                </a:solidFill>
                <a:effectLst/>
              </a:rPr>
              <a:t>44.5%</a:t>
            </a:r>
            <a:r>
              <a:rPr lang="en-IN" dirty="0">
                <a:solidFill>
                  <a:srgbClr val="00B0F0"/>
                </a:solidFill>
                <a:effectLst/>
              </a:rPr>
              <a:t>.</a:t>
            </a:r>
          </a:p>
          <a:p>
            <a:r>
              <a:rPr lang="en-IN" b="1" dirty="0">
                <a:effectLst/>
              </a:rPr>
              <a:t>⚖️ </a:t>
            </a:r>
            <a:r>
              <a:rPr lang="en-US" b="1" dirty="0">
                <a:solidFill>
                  <a:srgbClr val="00B0F0"/>
                </a:solidFill>
                <a:effectLst/>
              </a:rPr>
              <a:t>Staff Ratios</a:t>
            </a:r>
            <a:r>
              <a:rPr lang="en-US" dirty="0">
                <a:solidFill>
                  <a:srgbClr val="00B0F0"/>
                </a:solidFill>
                <a:effectLst/>
              </a:rPr>
              <a:t>: Avg. 17:1 (best: Humboldt Berlin @ 315:1).</a:t>
            </a:r>
            <a:endParaRPr lang="en-IN" dirty="0">
              <a:solidFill>
                <a:srgbClr val="00B0F0"/>
              </a:solidFill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97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B7B4-63FA-6F60-DEA7-991CE0B0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effectLst/>
              </a:rPr>
              <a:t>Country-Level</a:t>
            </a:r>
            <a:r>
              <a:rPr lang="en-IN" dirty="0">
                <a:effectLst/>
              </a:rPr>
              <a:t> </a:t>
            </a:r>
            <a:r>
              <a:rPr lang="en-IN" dirty="0">
                <a:solidFill>
                  <a:srgbClr val="FF0000"/>
                </a:solidFill>
                <a:effectLst/>
              </a:rPr>
              <a:t>Dominance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962E2-8661-32AD-E519-CF6DE5177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effectLst/>
              </a:rPr>
              <a:t>The </a:t>
            </a:r>
            <a:r>
              <a:rPr lang="en-US" b="1" dirty="0">
                <a:solidFill>
                  <a:srgbClr val="00B0F0"/>
                </a:solidFill>
                <a:effectLst/>
              </a:rPr>
              <a:t>United States</a:t>
            </a:r>
            <a:r>
              <a:rPr lang="en-US" dirty="0">
                <a:solidFill>
                  <a:srgbClr val="00B0F0"/>
                </a:solidFill>
                <a:effectLst/>
              </a:rPr>
              <a:t> leads in almost all metrics:</a:t>
            </a:r>
          </a:p>
          <a:p>
            <a:pPr lvl="1"/>
            <a:r>
              <a:rPr lang="en-US" dirty="0">
                <a:solidFill>
                  <a:srgbClr val="00B0F0"/>
                </a:solidFill>
                <a:effectLst/>
              </a:rPr>
              <a:t>Highest number of universities (273)</a:t>
            </a:r>
          </a:p>
          <a:p>
            <a:pPr lvl="1"/>
            <a:r>
              <a:rPr lang="en-US" dirty="0">
                <a:solidFill>
                  <a:srgbClr val="00B0F0"/>
                </a:solidFill>
                <a:effectLst/>
              </a:rPr>
              <a:t>Largest international student population (1.48M)</a:t>
            </a:r>
          </a:p>
          <a:p>
            <a:pPr lvl="1"/>
            <a:r>
              <a:rPr lang="en-US" dirty="0">
                <a:solidFill>
                  <a:srgbClr val="00B0F0"/>
                </a:solidFill>
                <a:effectLst/>
              </a:rPr>
              <a:t>Highest female student enrollment (4.93M)</a:t>
            </a:r>
          </a:p>
          <a:p>
            <a:r>
              <a:rPr lang="en-US" dirty="0">
                <a:solidFill>
                  <a:srgbClr val="00B0F0"/>
                </a:solidFill>
                <a:effectLst/>
              </a:rPr>
              <a:t>Other top-performing countries include the </a:t>
            </a:r>
            <a:r>
              <a:rPr lang="en-US" b="1" dirty="0">
                <a:solidFill>
                  <a:srgbClr val="00B0F0"/>
                </a:solidFill>
                <a:effectLst/>
              </a:rPr>
              <a:t>UK, Germany, Canada, and Australia</a:t>
            </a:r>
            <a:r>
              <a:rPr lang="en-US" dirty="0">
                <a:solidFill>
                  <a:srgbClr val="00B0F0"/>
                </a:solidFill>
                <a:effectLst/>
              </a:rPr>
              <a:t>, which are major destinations for international students.</a:t>
            </a:r>
          </a:p>
          <a:p>
            <a:pPr marL="0" indent="0">
              <a:buNone/>
            </a:pP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194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0221-3438-8EEA-79C0-16C791A3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effectLst/>
              </a:rPr>
              <a:t>University Performance Metrics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D0A16-1E98-3B27-2C2F-F7F6A1CB3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  <a:effectLst/>
              </a:rPr>
              <a:t>Arizona State University</a:t>
            </a:r>
            <a:r>
              <a:rPr lang="en-US" dirty="0">
                <a:solidFill>
                  <a:srgbClr val="00B0F0"/>
                </a:solidFill>
                <a:effectLst/>
              </a:rPr>
              <a:t> has the highest student population (~500K).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Polytechnique Lausanne (Switzerland)</a:t>
            </a:r>
            <a:r>
              <a:rPr lang="en-US" dirty="0">
                <a:solidFill>
                  <a:srgbClr val="00B0F0"/>
                </a:solidFill>
                <a:effectLst/>
              </a:rPr>
              <a:t> has the highest percentage of international students (324%).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Humboldt University of Berlin</a:t>
            </a:r>
            <a:r>
              <a:rPr lang="en-US" dirty="0">
                <a:solidFill>
                  <a:srgbClr val="00B0F0"/>
                </a:solidFill>
                <a:effectLst/>
              </a:rPr>
              <a:t> has the best student-to-staff ratio (315:1).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Times Higher Education-ranked universities</a:t>
            </a:r>
            <a:r>
              <a:rPr lang="en-US" dirty="0">
                <a:solidFill>
                  <a:srgbClr val="00B0F0"/>
                </a:solidFill>
                <a:effectLst/>
              </a:rPr>
              <a:t> attract the most international students (4.78M).</a:t>
            </a:r>
          </a:p>
          <a:p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77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9E27-C38C-4100-313B-3F16EA08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effectLst/>
              </a:rPr>
              <a:t>Student Demographics &amp; Trends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954D8-92C0-F37E-EFB9-815A1E001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  <a:effectLst/>
              </a:rPr>
              <a:t>Female student enrollment</a:t>
            </a:r>
            <a:r>
              <a:rPr lang="en-US" dirty="0">
                <a:solidFill>
                  <a:srgbClr val="00B0F0"/>
                </a:solidFill>
                <a:effectLst/>
              </a:rPr>
              <a:t> has been increasing, reaching </a:t>
            </a:r>
            <a:r>
              <a:rPr lang="en-US" b="1" dirty="0">
                <a:solidFill>
                  <a:srgbClr val="00B0F0"/>
                </a:solidFill>
                <a:effectLst/>
              </a:rPr>
              <a:t>44.5%</a:t>
            </a:r>
            <a:r>
              <a:rPr lang="en-US" dirty="0">
                <a:solidFill>
                  <a:srgbClr val="00B0F0"/>
                </a:solidFill>
                <a:effectLst/>
              </a:rPr>
              <a:t> in recent years.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International student numbers</a:t>
            </a:r>
            <a:r>
              <a:rPr lang="en-US" dirty="0">
                <a:solidFill>
                  <a:srgbClr val="00B0F0"/>
                </a:solidFill>
                <a:effectLst/>
              </a:rPr>
              <a:t> grew from </a:t>
            </a:r>
            <a:r>
              <a:rPr lang="en-US" b="1" dirty="0">
                <a:solidFill>
                  <a:srgbClr val="00B0F0"/>
                </a:solidFill>
                <a:effectLst/>
              </a:rPr>
              <a:t>1.58M (2006) to 4.76M (2016)</a:t>
            </a:r>
            <a:r>
              <a:rPr lang="en-US" dirty="0">
                <a:solidFill>
                  <a:srgbClr val="00B0F0"/>
                </a:solidFill>
                <a:effectLst/>
              </a:rPr>
              <a:t>.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Student-to-staff ratios</a:t>
            </a:r>
            <a:r>
              <a:rPr lang="en-US" dirty="0">
                <a:solidFill>
                  <a:srgbClr val="00B0F0"/>
                </a:solidFill>
                <a:effectLst/>
              </a:rPr>
              <a:t> vary significantly, with an average of </a:t>
            </a:r>
            <a:r>
              <a:rPr lang="en-US" b="1" dirty="0">
                <a:solidFill>
                  <a:srgbClr val="00B0F0"/>
                </a:solidFill>
                <a:effectLst/>
              </a:rPr>
              <a:t>17:1</a:t>
            </a:r>
            <a:r>
              <a:rPr lang="en-US" dirty="0">
                <a:solidFill>
                  <a:srgbClr val="00B0F0"/>
                </a:solidFill>
                <a:effectLst/>
              </a:rPr>
              <a:t>.</a:t>
            </a:r>
          </a:p>
          <a:p>
            <a:pPr marL="0" indent="0">
              <a:buNone/>
            </a:pP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52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CA3C-5AD8-95AE-4D5A-3969986C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effectLst/>
              </a:rPr>
              <a:t>Recommendations &amp; Conclusion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1EE8-163D-047E-2B6C-7427FB1CA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  <a:effectLst/>
              </a:rPr>
              <a:t>Conclusion</a:t>
            </a:r>
            <a:r>
              <a:rPr lang="en-US" dirty="0">
                <a:solidFill>
                  <a:srgbClr val="00B0F0"/>
                </a:solidFill>
                <a:effectLst/>
              </a:rPr>
              <a:t>:</a:t>
            </a:r>
          </a:p>
          <a:p>
            <a:r>
              <a:rPr lang="en-US" dirty="0">
                <a:solidFill>
                  <a:srgbClr val="00B0F0"/>
                </a:solidFill>
                <a:effectLst/>
              </a:rPr>
              <a:t>US dominates, but global competition is rising.</a:t>
            </a:r>
          </a:p>
          <a:p>
            <a:r>
              <a:rPr lang="en-US" dirty="0">
                <a:solidFill>
                  <a:srgbClr val="00B0F0"/>
                </a:solidFill>
                <a:effectLst/>
              </a:rPr>
              <a:t>Internationalization and gender balance are critical trends.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  <a:effectLst/>
              </a:rPr>
              <a:t>Recommendations</a:t>
            </a:r>
            <a:r>
              <a:rPr lang="en-US" dirty="0">
                <a:solidFill>
                  <a:srgbClr val="00B0F0"/>
                </a:solidFill>
                <a:effectLst/>
              </a:rPr>
              <a:t>: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Governments</a:t>
            </a:r>
            <a:r>
              <a:rPr lang="en-US" dirty="0">
                <a:solidFill>
                  <a:srgbClr val="00B0F0"/>
                </a:solidFill>
                <a:effectLst/>
              </a:rPr>
              <a:t>: Boost funding, streamline visas.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Universities</a:t>
            </a:r>
            <a:r>
              <a:rPr lang="en-US" dirty="0">
                <a:solidFill>
                  <a:srgbClr val="00B0F0"/>
                </a:solidFill>
                <a:effectLst/>
              </a:rPr>
              <a:t>: Prioritize faculty hiring, global partnerships.</a:t>
            </a:r>
          </a:p>
          <a:p>
            <a:r>
              <a:rPr lang="en-US" b="1" dirty="0">
                <a:solidFill>
                  <a:srgbClr val="00B0F0"/>
                </a:solidFill>
                <a:effectLst/>
              </a:rPr>
              <a:t>Students</a:t>
            </a:r>
            <a:r>
              <a:rPr lang="en-US" dirty="0">
                <a:solidFill>
                  <a:srgbClr val="00B0F0"/>
                </a:solidFill>
                <a:effectLst/>
              </a:rPr>
              <a:t>: Choose universities with strong support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50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33C2-034A-F5A1-E2BD-6C5FC229F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B6F99-3BBA-23C2-E873-EDDDE7B29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811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341</TotalTime>
  <Words>304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Global University Success Analysis  Insights from Data (2006–2016)  </vt:lpstr>
      <vt:lpstr>Key Findings </vt:lpstr>
      <vt:lpstr>Country-Level Dominance </vt:lpstr>
      <vt:lpstr>University Performance Metrics </vt:lpstr>
      <vt:lpstr>Student Demographics &amp; Trends </vt:lpstr>
      <vt:lpstr>Recommendations &amp; Conclusion 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mehul suryavanshi</dc:creator>
  <cp:lastModifiedBy>mehul suryavanshi</cp:lastModifiedBy>
  <cp:revision>5</cp:revision>
  <dcterms:created xsi:type="dcterms:W3CDTF">2025-07-07T12:14:46Z</dcterms:created>
  <dcterms:modified xsi:type="dcterms:W3CDTF">2025-07-08T10:26:03Z</dcterms:modified>
</cp:coreProperties>
</file>